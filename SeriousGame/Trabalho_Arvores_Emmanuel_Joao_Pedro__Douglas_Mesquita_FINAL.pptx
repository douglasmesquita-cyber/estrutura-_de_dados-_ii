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8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214884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585216"/>
            <a:ext cx="21488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ESTRUTURAS DE DADOS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6492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5F7FA"/>
                </a:solidFill>
                <a:latin typeface="Aptos"/>
              </a:defRPr>
            </a:pPr>
            <a:r>
              <a:t>SIMULADOR DE</a:t>
            </a:r>
            <a:br/>
            <a:r>
              <a:t>ÁRVORES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B5BFD1"/>
                </a:solidFill>
                <a:latin typeface="Aptos"/>
              </a:defRPr>
            </a:pPr>
            <a:r>
              <a:t>Análise do modelo original e proposta de upgrade com Árvore Rubro-Negra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5440680" cy="105156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4023360"/>
            <a:ext cx="498348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F7FA"/>
                </a:solidFill>
                <a:latin typeface="Aptos"/>
              </a:defRPr>
            </a:pPr>
            <a:r>
              <a:rPr dirty="0"/>
              <a:t>EMMANUEL FERREIRA GOMES</a:t>
            </a:r>
          </a:p>
          <a:p>
            <a:pPr algn="ctr">
              <a:defRPr sz="1100" b="1">
                <a:solidFill>
                  <a:srgbClr val="F5F7FA"/>
                </a:solidFill>
                <a:latin typeface="Aptos"/>
              </a:defRPr>
            </a:pPr>
            <a:r>
              <a:rPr dirty="0"/>
              <a:t>JOÃO PEDRO REIS RIOS</a:t>
            </a:r>
          </a:p>
          <a:p>
            <a:pPr algn="ctr">
              <a:defRPr sz="1100" b="1">
                <a:solidFill>
                  <a:srgbClr val="F5F7FA"/>
                </a:solidFill>
                <a:latin typeface="Aptos"/>
              </a:defRPr>
            </a:pPr>
            <a:r>
              <a:rPr dirty="0"/>
              <a:t>DOUGLAS </a:t>
            </a:r>
            <a:r>
              <a:rPr lang="pt-BR" dirty="0"/>
              <a:t>MESQUITA DA SILVA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4983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FD1"/>
                </a:solidFill>
                <a:latin typeface="Aptos"/>
              </a:defRPr>
            </a:pPr>
            <a:r>
              <a:rPr dirty="0"/>
              <a:t>Serious Game • </a:t>
            </a:r>
            <a:r>
              <a:rPr dirty="0" err="1"/>
              <a:t>Engenharia</a:t>
            </a:r>
            <a:r>
              <a:rPr dirty="0"/>
              <a:t> </a:t>
            </a:r>
            <a:r>
              <a:rPr dirty="0" err="1"/>
              <a:t>Reversa</a:t>
            </a:r>
            <a:r>
              <a:rPr dirty="0"/>
              <a:t> • </a:t>
            </a:r>
            <a:r>
              <a:rPr dirty="0" err="1"/>
              <a:t>Aprendizagem</a:t>
            </a:r>
            <a:r>
              <a:rPr dirty="0"/>
              <a:t> Ativa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796528" y="1965960"/>
            <a:ext cx="1225296" cy="1207008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021824" y="1965960"/>
            <a:ext cx="1069848" cy="1207008"/>
          </a:xfrm>
          <a:prstGeom prst="line">
            <a:avLst/>
          </a:prstGeom>
          <a:ln w="381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302752" y="3172968"/>
            <a:ext cx="493776" cy="123444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796528" y="3172968"/>
            <a:ext cx="576072" cy="1234440"/>
          </a:xfrm>
          <a:prstGeom prst="line">
            <a:avLst/>
          </a:prstGeom>
          <a:ln w="381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625328" y="3172968"/>
            <a:ext cx="466344" cy="1234440"/>
          </a:xfrm>
          <a:prstGeom prst="line">
            <a:avLst/>
          </a:prstGeom>
          <a:ln w="381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091672" y="3172968"/>
            <a:ext cx="502920" cy="123444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738360" y="1691640"/>
            <a:ext cx="566928" cy="566928"/>
          </a:xfrm>
          <a:prstGeom prst="ellipse">
            <a:avLst/>
          </a:prstGeom>
          <a:solidFill>
            <a:srgbClr val="0C0E12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1709928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0" name="Oval 19"/>
          <p:cNvSpPr/>
          <p:nvPr/>
        </p:nvSpPr>
        <p:spPr>
          <a:xfrm>
            <a:off x="8513064" y="2898648"/>
            <a:ext cx="566928" cy="56692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4" y="2916936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10808208" y="2898648"/>
            <a:ext cx="566928" cy="566928"/>
          </a:xfrm>
          <a:prstGeom prst="ellipse">
            <a:avLst/>
          </a:prstGeom>
          <a:solidFill>
            <a:srgbClr val="0C0E12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808208" y="2916936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4" name="Oval 23"/>
          <p:cNvSpPr/>
          <p:nvPr/>
        </p:nvSpPr>
        <p:spPr>
          <a:xfrm>
            <a:off x="8019288" y="4142232"/>
            <a:ext cx="566928" cy="566928"/>
          </a:xfrm>
          <a:prstGeom prst="ellipse">
            <a:avLst/>
          </a:prstGeom>
          <a:solidFill>
            <a:srgbClr val="0C0E12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19288" y="4160520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9089136" y="4142232"/>
            <a:ext cx="566928" cy="56692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89136" y="4160520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Oval 27"/>
          <p:cNvSpPr/>
          <p:nvPr/>
        </p:nvSpPr>
        <p:spPr>
          <a:xfrm>
            <a:off x="10341864" y="4142232"/>
            <a:ext cx="566928" cy="56692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41864" y="4160520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0" name="Oval 29"/>
          <p:cNvSpPr/>
          <p:nvPr/>
        </p:nvSpPr>
        <p:spPr>
          <a:xfrm>
            <a:off x="11365992" y="4142232"/>
            <a:ext cx="566928" cy="566928"/>
          </a:xfrm>
          <a:prstGeom prst="ellipse">
            <a:avLst/>
          </a:prstGeom>
          <a:solidFill>
            <a:srgbClr val="0C0E12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365992" y="4160520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5047488"/>
            <a:ext cx="28346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5065775"/>
            <a:ext cx="28346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ÁRVORE RUBRO-NEGRA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7724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B5BFD1"/>
                </a:solidFill>
                <a:latin typeface="Aptos"/>
              </a:defRPr>
            </a:pPr>
            <a:r>
              <a:rPr dirty="0"/>
              <a:t>ED II  •  Emmanuel Ferreira Gomes + João Pedro Reis Rios + Douglas </a:t>
            </a:r>
            <a:r>
              <a:rPr lang="pt-BR" dirty="0"/>
              <a:t>Mesquita da Silva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347472"/>
            <a:ext cx="123444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01 •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Como funciona o modelo original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BFD1"/>
                </a:solidFill>
                <a:latin typeface="Aptos"/>
              </a:defRPr>
            </a:pPr>
            <a:r>
              <a:t>A ideia é boa para visualização; nossa proposta acrescenta interação, regras e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212080" cy="361188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64008" cy="3611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848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Aptos"/>
              </a:defRPr>
            </a:pPr>
            <a:r>
              <a:t>O que o simulador faz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87752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514600"/>
            <a:ext cx="46451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Permite criar uma árvore binária de forma visual.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300984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227832"/>
            <a:ext cx="46451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Relaciona os nós por esquerda e direita.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941064"/>
            <a:ext cx="46451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Mostra quatro percursos: pré-ordem, em-ordem, pós-ordem e por nível.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727448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654296"/>
            <a:ext cx="46451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Ajuda a visualizar a sequência de leitura da árvore.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3328" y="1920240"/>
            <a:ext cx="5440680" cy="361188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53328" y="1920240"/>
            <a:ext cx="64008" cy="3611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54496" y="208483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Aptos"/>
              </a:defRPr>
            </a:pPr>
            <a:r>
              <a:t>Onde encontramos limitações</a:t>
            </a:r>
          </a:p>
        </p:txBody>
      </p:sp>
      <p:sp>
        <p:nvSpPr>
          <p:cNvPr id="21" name="Oval 20"/>
          <p:cNvSpPr/>
          <p:nvPr/>
        </p:nvSpPr>
        <p:spPr>
          <a:xfrm>
            <a:off x="6281928" y="258775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514600"/>
            <a:ext cx="4873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Não existe condição de vitória ou derrota.</a:t>
            </a:r>
          </a:p>
        </p:txBody>
      </p:sp>
      <p:sp>
        <p:nvSpPr>
          <p:cNvPr id="23" name="Oval 22"/>
          <p:cNvSpPr/>
          <p:nvPr/>
        </p:nvSpPr>
        <p:spPr>
          <a:xfrm>
            <a:off x="6281928" y="3300984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227832"/>
            <a:ext cx="4873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O usuário não recebe um treinamento progressivo.</a:t>
            </a:r>
          </a:p>
        </p:txBody>
      </p:sp>
      <p:sp>
        <p:nvSpPr>
          <p:cNvPr id="25" name="Oval 24"/>
          <p:cNvSpPr/>
          <p:nvPr/>
        </p:nvSpPr>
        <p:spPr>
          <a:xfrm>
            <a:off x="6281928" y="401421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941064"/>
            <a:ext cx="4873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Faltam explicações teóricas durante a simulação.</a:t>
            </a:r>
          </a:p>
        </p:txBody>
      </p:sp>
      <p:sp>
        <p:nvSpPr>
          <p:cNvPr id="27" name="Oval 26"/>
          <p:cNvSpPr/>
          <p:nvPr/>
        </p:nvSpPr>
        <p:spPr>
          <a:xfrm>
            <a:off x="6281928" y="4727448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654296"/>
            <a:ext cx="4873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Não há balanceamento ou validação pedagógica da estrutura.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742432"/>
            <a:ext cx="1691640" cy="96012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5861304"/>
            <a:ext cx="1371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38BDF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630021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B5BFD1"/>
                </a:solidFill>
                <a:latin typeface="Aptos"/>
              </a:defRPr>
            </a:pPr>
            <a:r>
              <a:t>percursos apresentados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41448" y="5742432"/>
            <a:ext cx="2011680" cy="96012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40" y="5861304"/>
            <a:ext cx="1691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8B5CF6"/>
                </a:solidFill>
                <a:latin typeface="Aptos"/>
              </a:defRPr>
            </a:pPr>
            <a:r>
              <a:t>visual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6300216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B5BFD1"/>
                </a:solidFill>
                <a:latin typeface="Aptos"/>
              </a:defRPr>
            </a:pPr>
            <a:r>
              <a:t>modo predominante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7720" y="5742432"/>
            <a:ext cx="1828800" cy="96012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82312" y="5861304"/>
            <a:ext cx="1508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22C55E"/>
                </a:solidFill>
                <a:latin typeface="Aptos"/>
              </a:defRPr>
            </a:pPr>
            <a:r>
              <a:t>ativo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2312" y="6300216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B5BFD1"/>
                </a:solidFill>
                <a:latin typeface="Aptos"/>
              </a:defRPr>
            </a:pPr>
            <a:r>
              <a:t>novo foco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6492240"/>
            <a:ext cx="77724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B5BFD1"/>
                </a:solidFill>
                <a:latin typeface="Aptos"/>
              </a:defRPr>
            </a:pPr>
            <a:r>
              <a:rPr dirty="0"/>
              <a:t>ED II  • </a:t>
            </a:r>
            <a:r>
              <a:rPr lang="pt-BR" dirty="0"/>
              <a:t>Emmanuel Ferreira Gomes + João Pedro Reis Rios + Douglas Mesquita da Silva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ptos"/>
              </a:defRPr>
            </a:pPr>
            <a:r>
              <a:rPr dirty="0"/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347472"/>
            <a:ext cx="12344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02 •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Nossa proposta: Árvore Rubro-Negra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BFD1"/>
                </a:solidFill>
                <a:latin typeface="Aptos"/>
              </a:defRPr>
            </a:pPr>
            <a:r>
              <a:t>A estrutura avançada vira parte das regras do próprio jogo.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520440" cy="361188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1728" y="2148840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5BFD1"/>
                </a:solidFill>
                <a:latin typeface="Aptos"/>
              </a:defRPr>
            </a:pPr>
            <a:r>
              <a:t>ESTRUTURA DO DESAFIO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5166360" y="2880360"/>
            <a:ext cx="950976" cy="960120"/>
          </a:xfrm>
          <a:prstGeom prst="line">
            <a:avLst/>
          </a:prstGeom>
          <a:ln w="25400">
            <a:solidFill>
              <a:srgbClr val="B5B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17336" y="2880360"/>
            <a:ext cx="950976" cy="960120"/>
          </a:xfrm>
          <a:prstGeom prst="line">
            <a:avLst/>
          </a:prstGeom>
          <a:ln w="25400">
            <a:solidFill>
              <a:srgbClr val="B5B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800600" y="3840480"/>
            <a:ext cx="365760" cy="868680"/>
          </a:xfrm>
          <a:prstGeom prst="line">
            <a:avLst/>
          </a:prstGeom>
          <a:ln w="25400">
            <a:solidFill>
              <a:srgbClr val="B5B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66360" y="3840480"/>
            <a:ext cx="365760" cy="868680"/>
          </a:xfrm>
          <a:prstGeom prst="line">
            <a:avLst/>
          </a:prstGeom>
          <a:ln w="25400">
            <a:solidFill>
              <a:srgbClr val="B5B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693408" y="3840480"/>
            <a:ext cx="374904" cy="868680"/>
          </a:xfrm>
          <a:prstGeom prst="line">
            <a:avLst/>
          </a:prstGeom>
          <a:ln w="25400">
            <a:solidFill>
              <a:srgbClr val="B5B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68312" y="3840480"/>
            <a:ext cx="356615" cy="868680"/>
          </a:xfrm>
          <a:prstGeom prst="line">
            <a:avLst/>
          </a:prstGeom>
          <a:ln w="25400">
            <a:solidFill>
              <a:srgbClr val="B5BF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833872" y="2633472"/>
            <a:ext cx="566928" cy="566928"/>
          </a:xfrm>
          <a:prstGeom prst="ellipse">
            <a:avLst/>
          </a:prstGeom>
          <a:solidFill>
            <a:srgbClr val="0C0E1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33872" y="2651760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7" name="Oval 16"/>
          <p:cNvSpPr/>
          <p:nvPr/>
        </p:nvSpPr>
        <p:spPr>
          <a:xfrm>
            <a:off x="4882896" y="3584448"/>
            <a:ext cx="566928" cy="56692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2896" y="3602736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6784848" y="3584448"/>
            <a:ext cx="566928" cy="566928"/>
          </a:xfrm>
          <a:prstGeom prst="ellipse">
            <a:avLst/>
          </a:prstGeom>
          <a:solidFill>
            <a:srgbClr val="0C0E12"/>
          </a:solidFill>
          <a:ln w="254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4848" y="3602736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7F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1" name="Oval 20"/>
          <p:cNvSpPr/>
          <p:nvPr/>
        </p:nvSpPr>
        <p:spPr>
          <a:xfrm>
            <a:off x="4517136" y="4462272"/>
            <a:ext cx="566928" cy="566928"/>
          </a:xfrm>
          <a:prstGeom prst="ellipse">
            <a:avLst/>
          </a:prstGeom>
          <a:solidFill>
            <a:srgbClr val="0C0E12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17136" y="4480559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5248656" y="4462272"/>
            <a:ext cx="566928" cy="56692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48656" y="4480559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6409944" y="4462272"/>
            <a:ext cx="566928" cy="56692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9944" y="4480559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27" name="Oval 26"/>
          <p:cNvSpPr/>
          <p:nvPr/>
        </p:nvSpPr>
        <p:spPr>
          <a:xfrm>
            <a:off x="7141464" y="4462272"/>
            <a:ext cx="566928" cy="566928"/>
          </a:xfrm>
          <a:prstGeom prst="ellipse">
            <a:avLst/>
          </a:prstGeom>
          <a:solidFill>
            <a:srgbClr val="0C0E12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41464" y="4480559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7F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1920240"/>
            <a:ext cx="3429000" cy="361188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" y="1920240"/>
            <a:ext cx="64008" cy="3611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20848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Aptos"/>
              </a:defRPr>
            </a:pPr>
            <a:r>
              <a:t>O jogador passa a...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258775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" y="2514600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Receber chaves para inserir.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330098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" y="3227832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Verificar cores e propriedades.</a:t>
            </a:r>
          </a:p>
        </p:txBody>
      </p:sp>
      <p:sp>
        <p:nvSpPr>
          <p:cNvPr id="36" name="Oval 35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7552" y="3941064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Corrigir problemas com recoloração ou rotação.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" y="472744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7552" y="4654296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Avançar somente quando a estrutura estiver válida.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10727" y="1920240"/>
            <a:ext cx="3456432" cy="361188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10727" y="1920240"/>
            <a:ext cx="64008" cy="3611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11896" y="2084832"/>
            <a:ext cx="304495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Aptos"/>
              </a:defRPr>
            </a:pPr>
            <a:r>
              <a:t>O sistema passa a...</a:t>
            </a:r>
          </a:p>
        </p:txBody>
      </p:sp>
      <p:sp>
        <p:nvSpPr>
          <p:cNvPr id="43" name="Oval 42"/>
          <p:cNvSpPr/>
          <p:nvPr/>
        </p:nvSpPr>
        <p:spPr>
          <a:xfrm>
            <a:off x="8339327" y="2587752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03919" y="2514600"/>
            <a:ext cx="2889503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Mostrar qual regra foi quebrada.</a:t>
            </a:r>
          </a:p>
        </p:txBody>
      </p:sp>
      <p:sp>
        <p:nvSpPr>
          <p:cNvPr id="45" name="Oval 44"/>
          <p:cNvSpPr/>
          <p:nvPr/>
        </p:nvSpPr>
        <p:spPr>
          <a:xfrm>
            <a:off x="8339327" y="3300984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19" y="3227832"/>
            <a:ext cx="2889503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Dar feedback do motivo da correção.</a:t>
            </a:r>
          </a:p>
        </p:txBody>
      </p:sp>
      <p:sp>
        <p:nvSpPr>
          <p:cNvPr id="47" name="Oval 46"/>
          <p:cNvSpPr/>
          <p:nvPr/>
        </p:nvSpPr>
        <p:spPr>
          <a:xfrm>
            <a:off x="8339327" y="401421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03919" y="3941064"/>
            <a:ext cx="2889503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Usar estabilidade como indicador visual.</a:t>
            </a:r>
          </a:p>
        </p:txBody>
      </p:sp>
      <p:sp>
        <p:nvSpPr>
          <p:cNvPr id="49" name="Oval 48"/>
          <p:cNvSpPr/>
          <p:nvPr/>
        </p:nvSpPr>
        <p:spPr>
          <a:xfrm>
            <a:off x="8339327" y="4727448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3919" y="4654296"/>
            <a:ext cx="2889503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Criar desafios com dificuldade progressiva.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77724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B5BFD1"/>
                </a:solidFill>
                <a:latin typeface="Aptos"/>
              </a:defRPr>
            </a:pPr>
            <a:r>
              <a:rPr dirty="0"/>
              <a:t>ED II  • </a:t>
            </a:r>
            <a:r>
              <a:rPr lang="pt-BR" dirty="0"/>
              <a:t>Emmanuel Ferreira Gomes + João Pedro Reis Rios + Douglas Mesquita da Silva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F444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53712" y="5138928"/>
            <a:ext cx="3090672" cy="640080"/>
          </a:xfrm>
          <a:prstGeom prst="roundRect">
            <a:avLst/>
          </a:prstGeom>
          <a:solidFill>
            <a:srgbClr val="273148"/>
          </a:solidFill>
          <a:ln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81728" y="5239512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19" b="1">
                <a:solidFill>
                  <a:srgbClr val="F5F7FA"/>
                </a:solidFill>
                <a:latin typeface="Aptos"/>
              </a:defRPr>
            </a:pPr>
            <a:r>
              <a:t>CORES • ALTURA PRETA • RECOLORAÇÃO • ROTAÇÃO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347472"/>
            <a:ext cx="123444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03 • GAMEPLAY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Core Loop: aprender fazendo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BFD1"/>
                </a:solidFill>
                <a:latin typeface="Aptos"/>
              </a:defRPr>
            </a:pPr>
            <a:r>
              <a:t>A mesma sequência de ações se repete, mas cada etapa reforça um conceito de ED II.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40280"/>
            <a:ext cx="2057400" cy="192024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86384" y="2414016"/>
            <a:ext cx="566928" cy="566928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432304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496312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Aptos"/>
              </a:defRPr>
            </a:pPr>
            <a:r>
              <a:t>Recebe chave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3035808"/>
            <a:ext cx="17190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FD1"/>
                </a:solidFill>
                <a:latin typeface="Aptos"/>
              </a:defRPr>
            </a:pPr>
            <a:r>
              <a:t>Uma nova chave é apresentada pelo desafio.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1" y="286207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B5BF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2240280"/>
            <a:ext cx="2057400" cy="192024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0672" y="2414016"/>
            <a:ext cx="566928" cy="566928"/>
          </a:xfrm>
          <a:prstGeom prst="ellipse">
            <a:avLst/>
          </a:prstGeom>
          <a:solidFill>
            <a:srgbClr val="8B5CF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2" y="2432304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496312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Aptos"/>
              </a:defRPr>
            </a:pPr>
            <a:r>
              <a:t>Insere nó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35808"/>
            <a:ext cx="17190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FD1"/>
                </a:solidFill>
                <a:latin typeface="Aptos"/>
              </a:defRPr>
            </a:pPr>
            <a:r>
              <a:t>O jogador escolhe onde ela entra.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6207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B5BF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48656" y="2240280"/>
            <a:ext cx="2057400" cy="192024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94960" y="2414016"/>
            <a:ext cx="566928" cy="56692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2432304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496312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Aptos"/>
              </a:defRPr>
            </a:pPr>
            <a:r>
              <a:t>Verifica regras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3035808"/>
            <a:ext cx="17190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FD1"/>
                </a:solidFill>
                <a:latin typeface="Aptos"/>
              </a:defRPr>
            </a:pPr>
            <a:r>
              <a:t>O jogo verifica cores e propriedades.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86207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B5BF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52944" y="2240280"/>
            <a:ext cx="2057400" cy="192024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99248" y="2414016"/>
            <a:ext cx="566928" cy="56692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9248" y="2432304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2496312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Aptos"/>
              </a:defRPr>
            </a:pPr>
            <a:r>
              <a:t>Corrige árvore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3035808"/>
            <a:ext cx="17190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FD1"/>
                </a:solidFill>
                <a:latin typeface="Aptos"/>
              </a:defRPr>
            </a:pPr>
            <a:r>
              <a:t>Recolorir ou rotacionar quando necessário.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7776" y="286207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B5BFD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57232" y="2240280"/>
            <a:ext cx="2057400" cy="192024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03536" y="2414016"/>
            <a:ext cx="566928" cy="566928"/>
          </a:xfrm>
          <a:prstGeom prst="ellipse">
            <a:avLst/>
          </a:prstGeom>
          <a:solidFill>
            <a:srgbClr val="22C55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03536" y="2432304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43615" y="2496312"/>
            <a:ext cx="10515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Aptos"/>
              </a:defRPr>
            </a:pPr>
            <a:r>
              <a:t>Avança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1824" y="3035808"/>
            <a:ext cx="17190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BFD1"/>
                </a:solidFill>
                <a:latin typeface="Aptos"/>
              </a:defRPr>
            </a:pPr>
            <a:r>
              <a:t>A etapa seguinte fica disponível.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599432"/>
            <a:ext cx="10927080" cy="960120"/>
          </a:xfrm>
          <a:prstGeom prst="roundRect">
            <a:avLst/>
          </a:prstGeom>
          <a:solidFill>
            <a:srgbClr val="1F2C45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4828032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Aptos"/>
              </a:defRPr>
            </a:pPr>
            <a:r>
              <a:t>VITÓRIA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477316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Concluir a sequência mantendo a árvore válida.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4828032"/>
            <a:ext cx="914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Aptos"/>
              </a:defRPr>
            </a:pPr>
            <a:r>
              <a:t>DERROTA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773168"/>
            <a:ext cx="43891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Exceder erros ou finalizar uma etapa com a estrutura inválida.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77724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B5BFD1"/>
                </a:solidFill>
                <a:latin typeface="Aptos"/>
              </a:defRPr>
            </a:pPr>
            <a:r>
              <a:rPr dirty="0"/>
              <a:t>ED II  • </a:t>
            </a:r>
            <a:r>
              <a:rPr lang="pt-BR" dirty="0"/>
              <a:t>Emmanuel Ferreira Gomes + João Pedro Reis Rios + Douglas Mesquita da Silva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C55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347472"/>
            <a:ext cx="123444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04 • OLHAR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O que manter, melhorar e evoluir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BFD1"/>
                </a:solidFill>
                <a:latin typeface="Aptos"/>
              </a:defRPr>
            </a:pPr>
            <a:r>
              <a:t>Nossa crítica é funcional: melhorar a aprendizagem sem tornar o projeto desnecessariamente complexo.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429000" cy="361188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64008" cy="3611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Aptos"/>
              </a:defRPr>
            </a:pPr>
            <a:r>
              <a:t>MANter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542032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468879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Interface visual e simples.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55263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182111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Visualização dos percursos.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968496"/>
            <a:ext cx="82296" cy="822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895344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Relação direta entre nó e posição.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874519"/>
            <a:ext cx="3429000" cy="361188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0832" y="1874519"/>
            <a:ext cx="64008" cy="3611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039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Aptos"/>
              </a:defRPr>
            </a:pPr>
            <a:r>
              <a:t>MELHORAR</a:t>
            </a:r>
          </a:p>
        </p:txBody>
      </p:sp>
      <p:sp>
        <p:nvSpPr>
          <p:cNvPr id="19" name="Oval 18"/>
          <p:cNvSpPr/>
          <p:nvPr/>
        </p:nvSpPr>
        <p:spPr>
          <a:xfrm>
            <a:off x="4599432" y="2542032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64024" y="2468879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Feedback de erros.</a:t>
            </a:r>
          </a:p>
        </p:txBody>
      </p:sp>
      <p:sp>
        <p:nvSpPr>
          <p:cNvPr id="21" name="Oval 20"/>
          <p:cNvSpPr/>
          <p:nvPr/>
        </p:nvSpPr>
        <p:spPr>
          <a:xfrm>
            <a:off x="4599432" y="3255263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64024" y="3182111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Treino + modo desafio.</a:t>
            </a:r>
          </a:p>
        </p:txBody>
      </p:sp>
      <p:sp>
        <p:nvSpPr>
          <p:cNvPr id="23" name="Oval 22"/>
          <p:cNvSpPr/>
          <p:nvPr/>
        </p:nvSpPr>
        <p:spPr>
          <a:xfrm>
            <a:off x="4599432" y="396849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64024" y="3895344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Validação das propriedades.</a:t>
            </a:r>
          </a:p>
        </p:txBody>
      </p:sp>
      <p:sp>
        <p:nvSpPr>
          <p:cNvPr id="25" name="Oval 24"/>
          <p:cNvSpPr/>
          <p:nvPr/>
        </p:nvSpPr>
        <p:spPr>
          <a:xfrm>
            <a:off x="4599432" y="4681728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64024" y="4608576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Objetivo claro para o jogador.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874519"/>
            <a:ext cx="3429000" cy="361188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1874519"/>
            <a:ext cx="64008" cy="3611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8" y="20391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Aptos"/>
              </a:defRPr>
            </a:pPr>
            <a:r>
              <a:t>EVOLUIR</a:t>
            </a:r>
          </a:p>
        </p:txBody>
      </p:sp>
      <p:sp>
        <p:nvSpPr>
          <p:cNvPr id="30" name="Oval 29"/>
          <p:cNvSpPr/>
          <p:nvPr/>
        </p:nvSpPr>
        <p:spPr>
          <a:xfrm>
            <a:off x="8366760" y="2542032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31352" y="2468879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Níveis e sequências maiores.</a:t>
            </a:r>
          </a:p>
        </p:txBody>
      </p:sp>
      <p:sp>
        <p:nvSpPr>
          <p:cNvPr id="32" name="Oval 31"/>
          <p:cNvSpPr/>
          <p:nvPr/>
        </p:nvSpPr>
        <p:spPr>
          <a:xfrm>
            <a:off x="8366760" y="3255263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31352" y="3182111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Histórico de erros.</a:t>
            </a:r>
          </a:p>
        </p:txBody>
      </p:sp>
      <p:sp>
        <p:nvSpPr>
          <p:cNvPr id="34" name="Oval 33"/>
          <p:cNvSpPr/>
          <p:nvPr/>
        </p:nvSpPr>
        <p:spPr>
          <a:xfrm>
            <a:off x="8366760" y="396849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31352" y="3895344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Comparação de árvores.</a:t>
            </a:r>
          </a:p>
        </p:txBody>
      </p:sp>
      <p:sp>
        <p:nvSpPr>
          <p:cNvPr id="36" name="Oval 35"/>
          <p:cNvSpPr/>
          <p:nvPr/>
        </p:nvSpPr>
        <p:spPr>
          <a:xfrm>
            <a:off x="8366760" y="4681728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31352" y="4608576"/>
            <a:ext cx="2862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F5F7FA"/>
                </a:solidFill>
                <a:latin typeface="Aptos"/>
              </a:defRPr>
            </a:pPr>
            <a:r>
              <a:t>Indicadores simples de custo e desempenho.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74243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Aptos"/>
              </a:defRPr>
            </a:pPr>
            <a:r>
              <a:t>PRINCÍPIO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73352" y="5660136"/>
            <a:ext cx="932688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5F7FA"/>
                </a:solidFill>
                <a:latin typeface="Aptos"/>
              </a:defRPr>
            </a:pPr>
            <a:r>
              <a:t>Não é colocar mais efeitos; é fazer cada ação ensinar alguma coisa.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77724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B5BFD1"/>
                </a:solidFill>
                <a:latin typeface="Aptos"/>
              </a:defRPr>
            </a:pPr>
            <a:r>
              <a:rPr dirty="0"/>
              <a:t>ED II  • </a:t>
            </a:r>
            <a:r>
              <a:rPr lang="pt-BR" dirty="0"/>
              <a:t>Emmanuel Ferreira Gomes + João Pedro Reis Rios + Douglas Mesquita da Silva</a:t>
            </a:r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347472"/>
            <a:ext cx="123444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05 • IMPLEMENTAÇÃO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Outras linguagens possíveis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BFD1"/>
                </a:solidFill>
                <a:latin typeface="Aptos"/>
              </a:defRPr>
            </a:pPr>
            <a:r>
              <a:t>A lógica da estrutura permanece; o que muda é a forma de construir a interface e a experiência.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47088"/>
            <a:ext cx="5257800" cy="1024128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1" y="2048256"/>
            <a:ext cx="96012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2066544"/>
            <a:ext cx="9601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029968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5F7FA"/>
                </a:solidFill>
                <a:latin typeface="Aptos"/>
              </a:defRPr>
            </a:pPr>
            <a:r>
              <a:t>Aproveita a proposta original e trabalha diretamente com a estrutura de dados.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5257800" cy="1024128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1" y="3310128"/>
            <a:ext cx="96012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3328416"/>
            <a:ext cx="9601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291840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5F7FA"/>
                </a:solidFill>
                <a:latin typeface="Aptos"/>
              </a:defRPr>
            </a:pPr>
            <a:r>
              <a:t>Bom para prototipação rápida e versões educativas com interface simples.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70831"/>
            <a:ext cx="5257800" cy="1024128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1" y="4571999"/>
            <a:ext cx="96012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1" y="4590287"/>
            <a:ext cx="9601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553712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5F7FA"/>
                </a:solidFill>
                <a:latin typeface="Aptos"/>
              </a:defRPr>
            </a:pPr>
            <a:r>
              <a:t>Pode receber uma aplicação desktop organizada com JavaFX.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47088"/>
            <a:ext cx="5257800" cy="1024128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28231" y="2048256"/>
            <a:ext cx="9601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1" y="2066544"/>
            <a:ext cx="9601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029968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5F7FA"/>
                </a:solidFill>
                <a:latin typeface="Aptos"/>
              </a:defRPr>
            </a:pPr>
            <a:r>
              <a:t>Permite criar uma versão no navegador com HTML/CSS e animações.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108960"/>
            <a:ext cx="5257800" cy="1024128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28231" y="3310128"/>
            <a:ext cx="960120" cy="32004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1" y="3328416"/>
            <a:ext cx="96012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C#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3291840"/>
            <a:ext cx="36576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5F7FA"/>
                </a:solidFill>
                <a:latin typeface="Aptos"/>
              </a:defRPr>
            </a:pPr>
            <a:r>
              <a:t>Pode servir para uma versão visual mais completa ou uma implementação em Unity.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370832"/>
            <a:ext cx="5257800" cy="1115568"/>
          </a:xfrm>
          <a:prstGeom prst="roundRect">
            <a:avLst/>
          </a:prstGeom>
          <a:solidFill>
            <a:srgbClr val="1F2C45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5902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Aptos"/>
              </a:defRPr>
            </a:pPr>
            <a:r>
              <a:t>CAMINHO DE IMPLEMENTAÇÃO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10328"/>
            <a:ext cx="4480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  <a:latin typeface="Aptos"/>
              </a:defRPr>
            </a:pPr>
            <a:r>
              <a:t>Protótipo → validação → desafios → níveis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B5BFD1"/>
                </a:solidFill>
                <a:latin typeface="Aptos"/>
              </a:defRPr>
            </a:pPr>
            <a:r>
              <a:rPr dirty="0"/>
              <a:t>ED II  • </a:t>
            </a:r>
            <a:r>
              <a:rPr lang="pt-BR" dirty="0"/>
              <a:t>Emmanuel Ferreira Gomes + João Pedro Reis Rios + Douglas Mesquita da Silva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347472"/>
            <a:ext cx="123444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06 • 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972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5F7FA"/>
                </a:solidFill>
                <a:latin typeface="Aptos"/>
              </a:defRPr>
            </a:pPr>
            <a:r>
              <a:t>Nossa opinião final sobre a implementação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BFD1"/>
                </a:solidFill>
                <a:latin typeface="Aptos"/>
              </a:defRPr>
            </a:pPr>
            <a:r>
              <a:t>A melhoria principal é transformar o simulador em uma experiência em que o aluno precisa pensar e agir.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6629400" cy="352044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2139696"/>
            <a:ext cx="123444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157984"/>
            <a:ext cx="123444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5F7FA"/>
                </a:solidFill>
                <a:latin typeface="Aptos"/>
              </a:defRPr>
            </a:pPr>
            <a:r>
              <a:t>NOSSA LEITURA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58064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F7FA"/>
                </a:solidFill>
                <a:latin typeface="Aptos"/>
              </a:defRPr>
            </a:pPr>
            <a:r>
              <a:t>O modelo original tem uma boa base visual.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58064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BFD1"/>
                </a:solidFill>
                <a:latin typeface="Aptos"/>
              </a:defRPr>
            </a:pPr>
            <a:r>
              <a:t>Nós manteríamos a simplicidade, mas acrescentaríamos desafios, validação das regras, feedback e correções visíveis. O objetivo não é deixar o jogo maior; é fazer cada ação do usuário ter ligação com o conteúdo de Estruturas de Dados II.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82896"/>
            <a:ext cx="5806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5F7FA"/>
                </a:solidFill>
                <a:latin typeface="Aptos"/>
              </a:defRPr>
            </a:pPr>
            <a:r>
              <a:t>Uma primeira versão já poderia funcionar com nós, cores, validação, rotações, recoloração e desafios.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874519"/>
            <a:ext cx="3950208" cy="3520440"/>
          </a:xfrm>
          <a:prstGeom prst="roundRect">
            <a:avLst/>
          </a:prstGeom>
          <a:solidFill>
            <a:srgbClr val="182236"/>
          </a:solidFill>
          <a:ln w="12700">
            <a:solidFill>
              <a:srgbClr val="1F2C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7" y="217627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38BDF8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15" name="Oval 14"/>
          <p:cNvSpPr/>
          <p:nvPr/>
        </p:nvSpPr>
        <p:spPr>
          <a:xfrm>
            <a:off x="7882127" y="2743200"/>
            <a:ext cx="566928" cy="566928"/>
          </a:xfrm>
          <a:prstGeom prst="ellipse">
            <a:avLst/>
          </a:prstGeom>
          <a:solidFill>
            <a:srgbClr val="38BDF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7" y="2761488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0224" y="2825496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Protótipo visual</a:t>
            </a:r>
          </a:p>
        </p:txBody>
      </p:sp>
      <p:sp>
        <p:nvSpPr>
          <p:cNvPr id="18" name="Oval 17"/>
          <p:cNvSpPr/>
          <p:nvPr/>
        </p:nvSpPr>
        <p:spPr>
          <a:xfrm>
            <a:off x="7882127" y="3584448"/>
            <a:ext cx="566928" cy="566928"/>
          </a:xfrm>
          <a:prstGeom prst="ellipse">
            <a:avLst/>
          </a:prstGeom>
          <a:solidFill>
            <a:srgbClr val="8B5CF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2127" y="3602736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3666744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Regras + feedback</a:t>
            </a:r>
          </a:p>
        </p:txBody>
      </p:sp>
      <p:sp>
        <p:nvSpPr>
          <p:cNvPr id="21" name="Oval 20"/>
          <p:cNvSpPr/>
          <p:nvPr/>
        </p:nvSpPr>
        <p:spPr>
          <a:xfrm>
            <a:off x="7882127" y="4425696"/>
            <a:ext cx="566928" cy="566928"/>
          </a:xfrm>
          <a:prstGeom prst="ellipse">
            <a:avLst/>
          </a:prstGeom>
          <a:solidFill>
            <a:srgbClr val="22C55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7" y="4443983"/>
            <a:ext cx="56692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4507992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F7FA"/>
                </a:solidFill>
                <a:latin typeface="Aptos"/>
              </a:defRPr>
            </a:pPr>
            <a:r>
              <a:t>Desafios + níveis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4937760"/>
            <a:ext cx="2743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5F7FA"/>
                </a:solidFill>
                <a:latin typeface="Aptos"/>
              </a:defRPr>
            </a:pPr>
            <a:r>
              <a:t>Obrigado!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7724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B5BFD1"/>
                </a:solidFill>
                <a:latin typeface="Aptos"/>
              </a:defRPr>
            </a:pPr>
            <a:r>
              <a:rPr dirty="0"/>
              <a:t>ED II  • </a:t>
            </a:r>
            <a:r>
              <a:rPr lang="pt-BR" dirty="0"/>
              <a:t>Emmanuel Ferreira Gomes + João Pedro Reis Rios + Douglas Mesquita da Silva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22C55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793</Words>
  <Application>Microsoft Office PowerPoint</Application>
  <PresentationFormat>Widescreen</PresentationFormat>
  <Paragraphs>145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FERREIRA GOMES</cp:lastModifiedBy>
  <cp:revision>2</cp:revision>
  <dcterms:created xsi:type="dcterms:W3CDTF">2013-01-27T09:14:16Z</dcterms:created>
  <dcterms:modified xsi:type="dcterms:W3CDTF">2026-09-26T00:45:12Z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2026-09-26T00:45:12Z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f018794e-d2b4-4a97-b6ef-95537b18ec3b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